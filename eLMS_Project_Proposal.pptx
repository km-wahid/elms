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5166F3-B79F-47D5-A2D7-9574088BCC6F}" v="10" dt="2026-09-25T16:36:26.0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dip basak" userId="206b733544c46c01" providerId="LiveId" clId="{7F0BFA50-FCFE-49AD-9AC7-6989B3BCC9FF}"/>
    <pc:docChg chg="modSld">
      <pc:chgData name="sudip basak" userId="206b733544c46c01" providerId="LiveId" clId="{7F0BFA50-FCFE-49AD-9AC7-6989B3BCC9FF}" dt="2026-09-25T16:36:26.033" v="117"/>
      <pc:docMkLst>
        <pc:docMk/>
      </pc:docMkLst>
      <pc:sldChg chg="modSp mod">
        <pc:chgData name="sudip basak" userId="206b733544c46c01" providerId="LiveId" clId="{7F0BFA50-FCFE-49AD-9AC7-6989B3BCC9FF}" dt="2026-09-25T16:36:26.033" v="117"/>
        <pc:sldMkLst>
          <pc:docMk/>
          <pc:sldMk cId="0" sldId="256"/>
        </pc:sldMkLst>
        <pc:spChg chg="mod">
          <ac:chgData name="sudip basak" userId="206b733544c46c01" providerId="LiveId" clId="{7F0BFA50-FCFE-49AD-9AC7-6989B3BCC9FF}" dt="2026-09-25T16:27:05.117" v="64" actId="207"/>
          <ac:spMkLst>
            <pc:docMk/>
            <pc:sldMk cId="0" sldId="256"/>
            <ac:spMk id="3" creationId="{00000000-0000-0000-0000-000000000000}"/>
          </ac:spMkLst>
        </pc:spChg>
        <pc:spChg chg="mod">
          <ac:chgData name="sudip basak" userId="206b733544c46c01" providerId="LiveId" clId="{7F0BFA50-FCFE-49AD-9AC7-6989B3BCC9FF}" dt="2026-09-25T16:26:24.353" v="56"/>
          <ac:spMkLst>
            <pc:docMk/>
            <pc:sldMk cId="0" sldId="256"/>
            <ac:spMk id="6" creationId="{00000000-0000-0000-0000-000000000000}"/>
          </ac:spMkLst>
        </pc:spChg>
        <pc:spChg chg="mod">
          <ac:chgData name="sudip basak" userId="206b733544c46c01" providerId="LiveId" clId="{7F0BFA50-FCFE-49AD-9AC7-6989B3BCC9FF}" dt="2026-09-25T16:30:03.013" v="92"/>
          <ac:spMkLst>
            <pc:docMk/>
            <pc:sldMk cId="0" sldId="256"/>
            <ac:spMk id="8" creationId="{00000000-0000-0000-0000-000000000000}"/>
          </ac:spMkLst>
        </pc:spChg>
        <pc:spChg chg="mod">
          <ac:chgData name="sudip basak" userId="206b733544c46c01" providerId="LiveId" clId="{7F0BFA50-FCFE-49AD-9AC7-6989B3BCC9FF}" dt="2026-09-25T16:36:00.542" v="112" actId="20577"/>
          <ac:spMkLst>
            <pc:docMk/>
            <pc:sldMk cId="0" sldId="256"/>
            <ac:spMk id="10" creationId="{00000000-0000-0000-0000-000000000000}"/>
          </ac:spMkLst>
        </pc:spChg>
        <pc:spChg chg="mod">
          <ac:chgData name="sudip basak" userId="206b733544c46c01" providerId="LiveId" clId="{7F0BFA50-FCFE-49AD-9AC7-6989B3BCC9FF}" dt="2026-09-25T16:36:15.991" v="115"/>
          <ac:spMkLst>
            <pc:docMk/>
            <pc:sldMk cId="0" sldId="256"/>
            <ac:spMk id="12" creationId="{00000000-0000-0000-0000-000000000000}"/>
          </ac:spMkLst>
        </pc:spChg>
        <pc:spChg chg="mod">
          <ac:chgData name="sudip basak" userId="206b733544c46c01" providerId="LiveId" clId="{7F0BFA50-FCFE-49AD-9AC7-6989B3BCC9FF}" dt="2026-09-25T16:36:22.882" v="116"/>
          <ac:spMkLst>
            <pc:docMk/>
            <pc:sldMk cId="0" sldId="256"/>
            <ac:spMk id="14" creationId="{00000000-0000-0000-0000-000000000000}"/>
          </ac:spMkLst>
        </pc:spChg>
        <pc:spChg chg="mod">
          <ac:chgData name="sudip basak" userId="206b733544c46c01" providerId="LiveId" clId="{7F0BFA50-FCFE-49AD-9AC7-6989B3BCC9FF}" dt="2026-09-25T16:36:26.033" v="117"/>
          <ac:spMkLst>
            <pc:docMk/>
            <pc:sldMk cId="0" sldId="256"/>
            <ac:spMk id="1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3474720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 dirty="0" err="1"/>
              <a:t>eLMS</a:t>
            </a:r>
            <a:endParaRPr dirty="0"/>
          </a:p>
          <a:p>
            <a:pPr>
              <a:defRPr sz="2200" b="1">
                <a:solidFill>
                  <a:srgbClr val="93C5FD"/>
                </a:solidFill>
              </a:defRPr>
            </a:pPr>
            <a:r>
              <a:rPr dirty="0"/>
              <a:t>Scalable E-Learning</a:t>
            </a:r>
            <a:br>
              <a:rPr dirty="0"/>
            </a:br>
            <a:r>
              <a:rPr dirty="0"/>
              <a:t>Management System</a:t>
            </a:r>
          </a:p>
          <a:p>
            <a:br>
              <a:rPr dirty="0"/>
            </a:br>
            <a:r>
              <a:rPr dirty="0">
                <a:solidFill>
                  <a:schemeClr val="bg1">
                    <a:lumMod val="95000"/>
                  </a:schemeClr>
                </a:solidFill>
              </a:rPr>
              <a:t>Full-Stack Web Development Project</a:t>
            </a:r>
            <a:br>
              <a:rPr dirty="0">
                <a:solidFill>
                  <a:schemeClr val="bg1">
                    <a:lumMod val="95000"/>
                  </a:schemeClr>
                </a:solidFill>
              </a:rPr>
            </a:br>
            <a:r>
              <a:rPr dirty="0">
                <a:solidFill>
                  <a:schemeClr val="bg1">
                    <a:lumMod val="95000"/>
                  </a:schemeClr>
                </a:solidFill>
              </a:rPr>
              <a:t>Software Development Management Lab</a:t>
            </a:r>
            <a:br>
              <a:rPr dirty="0">
                <a:solidFill>
                  <a:schemeClr val="bg1">
                    <a:lumMod val="95000"/>
                  </a:schemeClr>
                </a:solidFill>
              </a:rPr>
            </a:br>
            <a:r>
              <a:rPr dirty="0">
                <a:solidFill>
                  <a:schemeClr val="bg1">
                    <a:lumMod val="95000"/>
                  </a:schemeClr>
                </a:solidFill>
              </a:rPr>
              <a:t>Course Code: 0613-307</a:t>
            </a:r>
          </a:p>
          <a:p>
            <a:br>
              <a:rPr dirty="0">
                <a:solidFill>
                  <a:schemeClr val="bg1">
                    <a:lumMod val="95000"/>
                  </a:schemeClr>
                </a:solidFill>
              </a:rPr>
            </a:br>
            <a:r>
              <a:rPr dirty="0">
                <a:solidFill>
                  <a:schemeClr val="bg1">
                    <a:lumMod val="95000"/>
                  </a:schemeClr>
                </a:solidFill>
              </a:rPr>
              <a:t>• React 18 + Vite</a:t>
            </a:r>
            <a:br>
              <a:rPr dirty="0">
                <a:solidFill>
                  <a:schemeClr val="bg1">
                    <a:lumMod val="95000"/>
                  </a:schemeClr>
                </a:solidFill>
              </a:rPr>
            </a:br>
            <a:r>
              <a:rPr dirty="0">
                <a:solidFill>
                  <a:schemeClr val="bg1">
                    <a:lumMod val="95000"/>
                  </a:schemeClr>
                </a:solidFill>
              </a:rPr>
              <a:t>• Django REST Framework</a:t>
            </a:r>
            <a:br>
              <a:rPr dirty="0">
                <a:solidFill>
                  <a:schemeClr val="bg1">
                    <a:lumMod val="95000"/>
                  </a:schemeClr>
                </a:solidFill>
              </a:rPr>
            </a:br>
            <a:r>
              <a:rPr dirty="0">
                <a:solidFill>
                  <a:schemeClr val="bg1">
                    <a:lumMod val="95000"/>
                  </a:schemeClr>
                </a:solidFill>
              </a:rPr>
              <a:t>• HLS Video Streaming</a:t>
            </a:r>
            <a:br>
              <a:rPr dirty="0">
                <a:solidFill>
                  <a:schemeClr val="bg1">
                    <a:lumMod val="95000"/>
                  </a:schemeClr>
                </a:solidFill>
              </a:rPr>
            </a:br>
            <a:r>
              <a:rPr dirty="0">
                <a:solidFill>
                  <a:schemeClr val="bg1">
                    <a:lumMod val="95000"/>
                  </a:schemeClr>
                </a:solidFill>
              </a:rPr>
              <a:t>• Docker Containerized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0" y="548640"/>
            <a:ext cx="6583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PROJECT PROPOSAL PRESENTATION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Our Project Team Members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Introducing the development team presenting the eLMS architecture, core modules, and system implementation: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0" y="2011680"/>
            <a:ext cx="3200400" cy="1280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120640" y="2148840"/>
            <a:ext cx="2834640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rPr lang="en-US" dirty="0"/>
              <a:t>SUDIP KUMER </a:t>
            </a:r>
            <a:endParaRPr dirty="0"/>
          </a:p>
          <a:p>
            <a:pPr>
              <a:defRPr sz="1050">
                <a:solidFill>
                  <a:srgbClr val="2563EB"/>
                </a:solidFill>
              </a:defRPr>
            </a:pPr>
            <a:r>
              <a:rPr dirty="0"/>
              <a:t>Roll: </a:t>
            </a:r>
            <a:r>
              <a:rPr lang="en-US" dirty="0"/>
              <a:t>12</a:t>
            </a:r>
            <a:r>
              <a:rPr dirty="0"/>
              <a:t>  • </a:t>
            </a:r>
            <a:r>
              <a:rPr lang="en-US" dirty="0"/>
              <a:t>Frontend React Architecture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8321040" y="2011680"/>
            <a:ext cx="3200400" cy="1280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0" y="2148840"/>
            <a:ext cx="2834640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rPr lang="en-US" dirty="0"/>
              <a:t>Khalid Muhammad </a:t>
            </a:r>
            <a:endParaRPr dirty="0"/>
          </a:p>
          <a:p>
            <a:pPr>
              <a:defRPr sz="1050">
                <a:solidFill>
                  <a:srgbClr val="2563EB"/>
                </a:solidFill>
              </a:defRPr>
            </a:pPr>
            <a:r>
              <a:rPr dirty="0"/>
              <a:t>Roll: 09  •  </a:t>
            </a:r>
            <a:r>
              <a:rPr lang="en-US" dirty="0"/>
              <a:t>Backend Database &amp; Data Modeling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4937760" y="3474720"/>
            <a:ext cx="3200400" cy="1280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20640" y="3611880"/>
            <a:ext cx="2834640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rPr lang="en-US" dirty="0"/>
              <a:t>Your Name</a:t>
            </a:r>
            <a:endParaRPr dirty="0"/>
          </a:p>
          <a:p>
            <a:pPr>
              <a:defRPr sz="1050">
                <a:solidFill>
                  <a:srgbClr val="2563EB"/>
                </a:solidFill>
              </a:defRPr>
            </a:pPr>
            <a:r>
              <a:rPr dirty="0"/>
              <a:t>Roll: 31  •</a:t>
            </a:r>
            <a:r>
              <a:rPr lang="en-US" dirty="0"/>
              <a:t> UI/UX Design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8321040" y="3474720"/>
            <a:ext cx="3200400" cy="1280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0" y="3611880"/>
            <a:ext cx="2834640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rPr lang="en-US" dirty="0"/>
              <a:t>Your Name</a:t>
            </a:r>
          </a:p>
          <a:p>
            <a:pPr>
              <a:defRPr sz="1050">
                <a:solidFill>
                  <a:srgbClr val="2563EB"/>
                </a:solidFill>
              </a:defRPr>
            </a:pPr>
            <a:r>
              <a:rPr dirty="0"/>
              <a:t>Roll: 13  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0" y="4937760"/>
            <a:ext cx="3200400" cy="1280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20640" y="5074920"/>
            <a:ext cx="2834640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rPr lang="en-US" dirty="0"/>
              <a:t>Your Name</a:t>
            </a:r>
          </a:p>
          <a:p>
            <a:pPr>
              <a:defRPr sz="1050">
                <a:solidFill>
                  <a:srgbClr val="2563EB"/>
                </a:solidFill>
              </a:defRPr>
            </a:pPr>
            <a:r>
              <a:rPr dirty="0"/>
              <a:t>Roll: 23  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4937760"/>
            <a:ext cx="3200400" cy="1280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0" y="5074920"/>
            <a:ext cx="2834640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rPr lang="en-US" dirty="0"/>
              <a:t>Your Name</a:t>
            </a:r>
          </a:p>
          <a:p>
            <a:pPr>
              <a:defRPr sz="1050">
                <a:solidFill>
                  <a:srgbClr val="2563EB"/>
                </a:solidFill>
              </a:defRPr>
            </a:pPr>
            <a:r>
              <a:rPr dirty="0"/>
              <a:t>Roll: 30  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Abstract &amp; Project Objectives</a:t>
            </a:r>
          </a:p>
          <a:p>
            <a:pPr>
              <a:defRPr sz="950" b="1">
                <a:solidFill>
                  <a:srgbClr val="4F46E5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What is eLMS?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An E-Learning Management System (eLMS) provides an integrated digital environment for delivering, tracking, and managing educational courses, multimedia content, and academic evaluations online.</a:t>
            </a:r>
          </a:p>
          <a:p>
            <a:br/>
            <a:r>
              <a:t>Project Overview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This project aims to develop a robust, cloud-native full-stack e-Learning platform designed to support 500–1000 concurrent active learners.</a:t>
            </a:r>
            <a:br/>
            <a:br/>
            <a:r>
              <a:t>Built with React 18, Vite, and Tailwind CSS on the frontend, and Django REST Framework, Daphne ASGI, Celery, and PostgreSQL on the backend, eLMS features adaptive HLS video streaming, per-user course enrollment isolation, an administrative CMS, real-time notifications, and full Docker containerization.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137160" cy="11155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rPr dirty="0"/>
              <a:t>User Authentication &amp; RBAC</a:t>
            </a:r>
          </a:p>
          <a:p>
            <a:pPr>
              <a:defRPr sz="980">
                <a:solidFill>
                  <a:srgbClr val="475569"/>
                </a:solidFill>
              </a:defRPr>
            </a:pPr>
            <a:r>
              <a:rPr dirty="0"/>
              <a:t>Secure JWT authentication with refresh token rotation. Distinct roles: Student, Teacher, and Administrator with strict data isolation.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606040"/>
            <a:ext cx="521208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2606040"/>
            <a:ext cx="137160" cy="11155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26974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Adaptive HLS Video Streaming</a:t>
            </a:r>
          </a:p>
          <a:p>
            <a:pPr>
              <a:defRPr sz="980">
                <a:solidFill>
                  <a:srgbClr val="475569"/>
                </a:solidFill>
              </a:defRPr>
            </a:pPr>
            <a:r>
              <a:t>Background video transcoding using Celery and FFmpeg to deliver buffer-free HTTP Live Streaming (HLS) tailored to student bandwidth.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840480"/>
            <a:ext cx="521208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3840480"/>
            <a:ext cx="137160" cy="11155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393192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Academics, Assignments &amp; Live Classes</a:t>
            </a:r>
          </a:p>
          <a:p>
            <a:pPr>
              <a:defRPr sz="980">
                <a:solidFill>
                  <a:srgbClr val="475569"/>
                </a:solidFill>
              </a:defRPr>
            </a:pPr>
            <a:r>
              <a:t>Comprehensive curriculum organization (Departments, Semesters, Courses, Modules, Lectures), downloadable slides/PDFs, and submission evaluation.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5074920"/>
            <a:ext cx="521208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5074920"/>
            <a:ext cx="137160" cy="11155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516636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Centralized Admin CMS &amp; Analytics</a:t>
            </a:r>
          </a:p>
          <a:p>
            <a:pPr>
              <a:defRPr sz="980">
                <a:solidFill>
                  <a:srgbClr val="475569"/>
                </a:solidFill>
              </a:defRPr>
            </a:pPr>
            <a:r>
              <a:t>DRF-style administrative dashboard providing complete control over users, courses, module sequences, student enrollments, and platform health.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Technologies Used &amp; Platform Features</a:t>
            </a:r>
          </a:p>
          <a:p>
            <a:pPr>
              <a:defRPr sz="950" b="1">
                <a:solidFill>
                  <a:srgbClr val="4F46E5"/>
                </a:solidFill>
                <a:latin typeface="Arial"/>
              </a:defRPr>
            </a:pPr>
            <a:r>
              <a:t>STACK &amp; CAPABILITIES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6032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Frontend Layer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React 18 (Vite SPA)</a:t>
            </a:r>
            <a:br/>
            <a:r>
              <a:t>• Tailwind CSS + Forms</a:t>
            </a:r>
            <a:br/>
            <a:r>
              <a:t>• Zustand State Store</a:t>
            </a:r>
            <a:br/>
            <a:r>
              <a:t>• HLS.js Video Player</a:t>
            </a:r>
            <a:br/>
            <a:r>
              <a:t>• Lucide Modern Icons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371600"/>
            <a:ext cx="256032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39312" y="146304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Backend API Layer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Django 4.2 + DRF</a:t>
            </a:r>
            <a:br/>
            <a:r>
              <a:t>• Daphne (ASGI Server)</a:t>
            </a:r>
            <a:br/>
            <a:r>
              <a:t>• Django Channels (WS)</a:t>
            </a:r>
            <a:br/>
            <a:r>
              <a:t>• SimpleJWT Auth</a:t>
            </a:r>
            <a:br/>
            <a:r>
              <a:t>• drf-spectacular (OpenAPI)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371600"/>
            <a:ext cx="256032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64224" y="146304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Database &amp; Caching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PostgreSQL 15 (Prod)</a:t>
            </a:r>
            <a:br/>
            <a:r>
              <a:t>• SQLite (Zero-dep Dev)</a:t>
            </a:r>
            <a:br/>
            <a:r>
              <a:t>• Redis 7 (Broker &amp; WS)</a:t>
            </a:r>
            <a:br/>
            <a:r>
              <a:t>• Celery 5 (Async Queue)</a:t>
            </a:r>
            <a:br/>
            <a:r>
              <a:t>• Celery Beat &amp; Flower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371600"/>
            <a:ext cx="256032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89136" y="146304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DevOps &amp; Media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Docker &amp; Docker Compose</a:t>
            </a:r>
            <a:br/>
            <a:r>
              <a:t>• Nginx Reverse Proxy</a:t>
            </a:r>
            <a:br/>
            <a:r>
              <a:t>• DigitalOcean Spaces (S3)</a:t>
            </a:r>
            <a:br/>
            <a:r>
              <a:t>• FFmpeg HLS Transcoding</a:t>
            </a:r>
            <a:br/>
            <a:r>
              <a:t>• Whitenoise Static Server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2578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Student / Learner Features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• Course Discovery: Search, browse, and filter courses by category and department</a:t>
            </a:r>
            <a:br/>
            <a:r>
              <a:t>• Isolated Enrollment: Independent enrollment state isolated per user account</a:t>
            </a:r>
            <a:br/>
            <a:r>
              <a:t>• Adaptive Video Player: Pre-recorded lectures with quality switching via HLS.js</a:t>
            </a:r>
            <a:br/>
            <a:r>
              <a:t>• Learning Materials: Download lecture slides, reference PDFs, and resources</a:t>
            </a:r>
            <a:br/>
            <a:r>
              <a:t>• Assignments &amp; Notes: Submit assignments and take contextual lecture notes</a:t>
            </a:r>
            <a:br/>
            <a:r>
              <a:t>• Real-Time Alerts: WebSocket notifications for new grades, live classes, and announcements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840480"/>
            <a:ext cx="52578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393192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Teacher &amp; Administrator Features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• Curriculum Builder: Organize courses into modules, lectures, and resources</a:t>
            </a:r>
            <a:br/>
            <a:r>
              <a:t>• Asynchronous Video Pipeline: Upload raw MP4/MOV videos transcoded automatically to HLS</a:t>
            </a:r>
            <a:br/>
            <a:r>
              <a:t>• Grading &amp; Evaluation: Review submissions, assign marks, and provide feedback</a:t>
            </a:r>
            <a:br/>
            <a:r>
              <a:t>• Live Session Scheduling: Schedule Zoom/Google Meet/Jitsi sessions with calendar sync</a:t>
            </a:r>
            <a:br/>
            <a:r>
              <a:t>• DRF-Style Admin CMS: High-speed dashboard to manage users, enrollments, and courses</a:t>
            </a:r>
            <a:br/>
            <a:r>
              <a:t>• Analytics Dashboard: Monitor total enrollments, active students, and course completions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Project Scope &amp; System Architecture</a:t>
            </a:r>
          </a:p>
          <a:p>
            <a:pPr>
              <a:defRPr sz="950" b="1">
                <a:solidFill>
                  <a:srgbClr val="4F46E5"/>
                </a:solidFill>
                <a:latin typeface="Arial"/>
              </a:defRPr>
            </a:pPr>
            <a:r>
              <a:t>BOUNDARIES &amp; IMPLEMENTATION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1148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374903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6A34A"/>
                </a:solidFill>
              </a:defRPr>
            </a:pPr>
            <a:r>
              <a:t>Included in Scope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Full JWT auth &amp; role-based access control</a:t>
            </a:r>
            <a:br/>
            <a:r>
              <a:t>• Course catalog with isolated enrollment</a:t>
            </a:r>
            <a:br/>
            <a:r>
              <a:t>• Adaptive HLS video streaming pipeline</a:t>
            </a:r>
            <a:br/>
            <a:r>
              <a:t>• Material distribution (PDFs, slide decks)</a:t>
            </a:r>
            <a:br/>
            <a:r>
              <a:t>• Assignment submission and teacher grading</a:t>
            </a:r>
            <a:br/>
            <a:r>
              <a:t>• Live class scheduling &amp; real-time WS notifications</a:t>
            </a:r>
            <a:br/>
            <a:r>
              <a:t>• Dedicated DRF CMS &amp; administrative analytics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77639"/>
            <a:ext cx="41148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069080"/>
            <a:ext cx="374903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C2626"/>
                </a:solidFill>
              </a:defRPr>
            </a:pPr>
            <a:r>
              <a:t>Excluded from Scope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Real commercial payment gateway integration (Stripe/PayPal)</a:t>
            </a:r>
            <a:br/>
            <a:r>
              <a:t>• AI automated exam proctoring / eye tracking</a:t>
            </a:r>
            <a:br/>
            <a:r>
              <a:t>• Native iOS/Android compiled applications</a:t>
            </a:r>
            <a:br/>
            <a:r>
              <a:t>• In-browser sandboxed code execution engine</a:t>
            </a:r>
            <a:br/>
            <a:r>
              <a:t>• Custom WebRTC SFU video conferencing cluster</a:t>
            </a:r>
          </a:p>
        </p:txBody>
      </p:sp>
      <p:pic>
        <p:nvPicPr>
          <p:cNvPr id="8" name="Picture 7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640080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Scaling Architecture &amp; Use Case Diagram</a:t>
            </a:r>
          </a:p>
          <a:p>
            <a:pPr>
              <a:defRPr sz="950" b="1">
                <a:solidFill>
                  <a:srgbClr val="4F46E5"/>
                </a:solidFill>
                <a:latin typeface="Arial"/>
              </a:defRPr>
            </a:pPr>
            <a:r>
              <a:t>SYSTEM DESIGN &amp; ACTORS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389120" cy="11155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Containerized Micro-Services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Docker &amp; Docker Compose encapsulate Frontend, Backend, Celery, Redis, and Database for predictable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40"/>
            <a:ext cx="4389120" cy="11155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Asynchronous Worker Offloading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Resource-heavy video encoding (FFmpeg) and email dispatching are offloaded to Celery background workers, ensuring zero API blocking.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4389120" cy="11155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9488"/>
                </a:solidFill>
              </a:defRPr>
            </a:pPr>
            <a:r>
              <a:t>ASGI &amp; WebSocket Scalability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Daphne ASGI combined with Redis channel layers handles persistent WebSocket connections for live notifications and class updates.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74920"/>
            <a:ext cx="4389120" cy="11155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516636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Cloud Storage &amp; CDN Ready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Media assets and HLS segments are streamed via S3-compatible DigitalOcean Spaces, offloading storage and bandwidth from web servers.</a:t>
            </a:r>
          </a:p>
        </p:txBody>
      </p:sp>
      <p:pic>
        <p:nvPicPr>
          <p:cNvPr id="12" name="Picture 11" descr="use_c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612648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System Modeling: DFD &amp; ER Diagram</a:t>
            </a:r>
          </a:p>
          <a:p>
            <a:pPr>
              <a:defRPr sz="950" b="1">
                <a:solidFill>
                  <a:srgbClr val="4F46E5"/>
                </a:solidFill>
                <a:latin typeface="Arial"/>
              </a:defRPr>
            </a:pPr>
            <a:r>
              <a:t>DATA ARCHITECTURE &amp; ENTITY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Level 1 Data Flow Diagram (DFD)</a:t>
            </a:r>
          </a:p>
        </p:txBody>
      </p:sp>
      <p:pic>
        <p:nvPicPr>
          <p:cNvPr id="5" name="Picture 4" descr="dfd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00200"/>
            <a:ext cx="530352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123444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Entity-Relationship (ER) Schema Model</a:t>
            </a:r>
          </a:p>
        </p:txBody>
      </p:sp>
      <p:pic>
        <p:nvPicPr>
          <p:cNvPr id="7" name="Picture 6" descr="er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00200"/>
            <a:ext cx="53035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Timeline, Outcomes &amp; Budget Considerations</a:t>
            </a:r>
          </a:p>
          <a:p>
            <a:pPr>
              <a:defRPr sz="950" b="1">
                <a:solidFill>
                  <a:srgbClr val="4F46E5"/>
                </a:solidFill>
                <a:latin typeface="Arial"/>
              </a:defRPr>
            </a:pPr>
            <a:r>
              <a:t>PROJECT EXECUTION &amp; PLANNING</a:t>
            </a:r>
          </a:p>
        </p:txBody>
      </p:sp>
      <p:pic>
        <p:nvPicPr>
          <p:cNvPr id="4" name="Picture 3" descr="timelin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583680" cy="2468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280160"/>
            <a:ext cx="38404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0" y="137160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Expected Outcomes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Production-ready, containerized eLMS platform</a:t>
            </a:r>
            <a:br/>
            <a:r>
              <a:t>• Concurrent support for 500–1000 active users</a:t>
            </a:r>
            <a:br/>
            <a:r>
              <a:t>• Fully responsive UX across mobile, tablet &amp; desktop</a:t>
            </a:r>
            <a:br/>
            <a:r>
              <a:t>• Automated HLS video pipeline with adaptive bitrate</a:t>
            </a:r>
            <a:br/>
            <a:r>
              <a:t>• Comprehensive academic management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77639"/>
            <a:ext cx="5120640" cy="2377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Budget &amp; Infrastructure Estimates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• DigitalOcean Droplet (4 vCPU, 8GB RAM): ~$24 / month</a:t>
            </a:r>
            <a:br/>
            <a:r>
              <a:t>• DigitalOcean Spaces (S3-compatible 250GB storage): ~$5 / month</a:t>
            </a:r>
            <a:br/>
            <a:r>
              <a:t>• Custom Domain Name &amp; SSL (Cloudflare / Namecheap): ~$12 / year</a:t>
            </a:r>
            <a:br/>
            <a:r>
              <a:t>• Development Environment (Local SQLite &amp; Docker): $0 (Free Tier)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977639"/>
            <a:ext cx="5303520" cy="2377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406908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Known Limitations &amp; Mitigations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• Video Transcoding CPU Usage: High concurrent uploads may stress server CPU; mitigated by Celery concurrency limits and queue scheduling.</a:t>
            </a:r>
            <a:br/>
            <a:r>
              <a:t>• Simulated Live Video: Live sessions use calendar meeting links (Zoom/Meet/Jitsi) rather than on-premise WebRTC media relay.</a:t>
            </a:r>
            <a:br/>
            <a:r>
              <a:t>• Payment Processing: Focused on academic registration; real monetary transactions excluded in initial phase.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371600" y="1097280"/>
            <a:ext cx="9448495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45920" y="1280160"/>
            <a:ext cx="8869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93C5FD"/>
                </a:solidFill>
              </a:defRPr>
            </a:pPr>
            <a:r>
              <a:t>CONCLUSION</a:t>
            </a:r>
          </a:p>
          <a:p>
            <a:pPr>
              <a:defRPr sz="1150">
                <a:solidFill>
                  <a:srgbClr val="E2E8F0"/>
                </a:solidFill>
              </a:defRPr>
            </a:pPr>
            <a:r>
              <a:t>eLMS demonstrates a complete, industry-standard full-stack web application designed for scalable real-world learning. By uniting React 18, Django REST Framework, HLS video pipelines, Celery background workers, and Docker containerization, the project bridges theoretical software engineering concepts with practical, high-performance web architecture.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944849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defRPr sz="1800">
                <a:solidFill>
                  <a:srgbClr val="93C5FD"/>
                </a:solidFill>
              </a:defRPr>
            </a:pPr>
            <a:r>
              <a:t>Questions &amp; Feedback Welcome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br/>
            <a:r>
              <a:t>Software Development Management Lab – 0613-307</a:t>
            </a:r>
            <a:br/>
            <a:r>
              <a:t>eLMS Development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1159</Words>
  <Application>Microsoft Office PowerPoint</Application>
  <PresentationFormat>Widescreen</PresentationFormat>
  <Paragraphs>80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sudip basak</cp:lastModifiedBy>
  <cp:revision>1</cp:revision>
  <dcterms:created xsi:type="dcterms:W3CDTF">2013-01-27T09:14:16Z</dcterms:created>
  <dcterms:modified xsi:type="dcterms:W3CDTF">2026-09-25T16:36:43Z</dcterms:modified>
  <cp:category/>
</cp:coreProperties>
</file>